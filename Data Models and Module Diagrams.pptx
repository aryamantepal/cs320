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Nunito Sans SemiBold"/>
      <p:regular r:id="rId31"/>
      <p:bold r:id="rId32"/>
      <p:italic r:id="rId33"/>
      <p:boldItalic r:id="rId34"/>
    </p:embeddedFont>
    <p:embeddedFont>
      <p:font typeface="Sora"/>
      <p:regular r:id="rId35"/>
      <p:bold r:id="rId36"/>
    </p:embeddedFont>
    <p:embeddedFont>
      <p:font typeface="Sora Medium"/>
      <p:regular r:id="rId37"/>
      <p:bold r:id="rId38"/>
    </p:embeddedFont>
    <p:embeddedFont>
      <p:font typeface="IBM Plex Sa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.fntdata"/><Relationship Id="rId42" Type="http://schemas.openxmlformats.org/officeDocument/2006/relationships/font" Target="fonts/IBMPlexSansSemiBold-boldItalic.fntdata"/><Relationship Id="rId41" Type="http://schemas.openxmlformats.org/officeDocument/2006/relationships/font" Target="fonts/IBMPlex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SemiBold-regular.fntdata"/><Relationship Id="rId30" Type="http://schemas.openxmlformats.org/officeDocument/2006/relationships/font" Target="fonts/SoraExtraLight-bold.fntdata"/><Relationship Id="rId33" Type="http://schemas.openxmlformats.org/officeDocument/2006/relationships/font" Target="fonts/NunitoSansSemiBold-italic.fntdata"/><Relationship Id="rId32" Type="http://schemas.openxmlformats.org/officeDocument/2006/relationships/font" Target="fonts/NunitoSansSemiBold-bold.fntdata"/><Relationship Id="rId35" Type="http://schemas.openxmlformats.org/officeDocument/2006/relationships/font" Target="fonts/Sora-regular.fntdata"/><Relationship Id="rId34" Type="http://schemas.openxmlformats.org/officeDocument/2006/relationships/font" Target="fonts/NunitoSansSemiBold-boldItalic.fntdata"/><Relationship Id="rId37" Type="http://schemas.openxmlformats.org/officeDocument/2006/relationships/font" Target="fonts/SoraMedium-regular.fntdata"/><Relationship Id="rId36" Type="http://schemas.openxmlformats.org/officeDocument/2006/relationships/font" Target="fonts/Sora-bold.fntdata"/><Relationship Id="rId39" Type="http://schemas.openxmlformats.org/officeDocument/2006/relationships/font" Target="fonts/IBMPlexSansSemiBold-regular.fntdata"/><Relationship Id="rId38" Type="http://schemas.openxmlformats.org/officeDocument/2006/relationships/font" Target="fonts/SoraMedium-bold.fntdata"/><Relationship Id="rId20" Type="http://schemas.openxmlformats.org/officeDocument/2006/relationships/font" Target="fonts/IBMPlexSans-boldItalic.fntdata"/><Relationship Id="rId22" Type="http://schemas.openxmlformats.org/officeDocument/2006/relationships/font" Target="fonts/SoraSemiBold-bold.fntdata"/><Relationship Id="rId21" Type="http://schemas.openxmlformats.org/officeDocument/2006/relationships/font" Target="fonts/SoraSemiBold-regular.fntdata"/><Relationship Id="rId24" Type="http://schemas.openxmlformats.org/officeDocument/2006/relationships/font" Target="fonts/IBMPlexSansMedium-bold.fntdata"/><Relationship Id="rId23" Type="http://schemas.openxmlformats.org/officeDocument/2006/relationships/font" Target="fonts/IBMPlexSansMedium-regular.fntdata"/><Relationship Id="rId26" Type="http://schemas.openxmlformats.org/officeDocument/2006/relationships/font" Target="fonts/IBMPlexSansMedium-boldItalic.fntdata"/><Relationship Id="rId25" Type="http://schemas.openxmlformats.org/officeDocument/2006/relationships/font" Target="fonts/IBMPlexSansMedium-italic.fntdata"/><Relationship Id="rId28" Type="http://schemas.openxmlformats.org/officeDocument/2006/relationships/font" Target="fonts/SoraLight-bold.fntdata"/><Relationship Id="rId27" Type="http://schemas.openxmlformats.org/officeDocument/2006/relationships/font" Target="fonts/SoraLight-regular.fntdata"/><Relationship Id="rId29" Type="http://schemas.openxmlformats.org/officeDocument/2006/relationships/font" Target="fonts/SoraExtra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1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95d15572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95d15572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5d15572a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95d15572a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95d15572af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95d15572af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95d15572af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95d15572af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95d15572af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95d15572af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95d15572af_0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95d15572af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95d15572af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95d15572a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95d15572af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95d15572af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95d15572af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95d15572af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95d15572af_0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95d15572af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95d15572af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95d15572af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Data Models and Module Diagrams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Elijah, Ziya, Kiran, Aryaman</a:t>
            </a: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5" name="Google Shape;895;p52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6" name="Google Shape;896;p52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7" name="Google Shape;897;p52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8" name="Google Shape;898;p52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9" name="Google Shape;899;p52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900" name="Google Shape;900;p52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Front End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01" name="Google Shape;901;p52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Sora"/>
                <a:ea typeface="Sora"/>
                <a:cs typeface="Sora"/>
                <a:sym typeface="Sora"/>
              </a:rPr>
              <a:t>React Native: </a:t>
            </a:r>
            <a:r>
              <a:rPr lang="en"/>
              <a:t>Cross-platform iOS &amp; Android from a single codebase. Enables faster iteration and code sharing across platforms with a large ecosystem of libraries.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2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Back End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03" name="Google Shape;903;p52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Sora"/>
                <a:ea typeface="Sora"/>
                <a:cs typeface="Sora"/>
                <a:sym typeface="Sora"/>
              </a:rPr>
              <a:t>Node and Express:</a:t>
            </a:r>
            <a:endParaRPr b="1" u="sng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across the full stack reduces context switching. Express is lightweight and unopinionated, giving us flexibility as requirements evolve.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2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Database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05" name="Google Shape;905;p52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Sora"/>
                <a:ea typeface="Sora"/>
                <a:cs typeface="Sora"/>
                <a:sym typeface="Sora"/>
              </a:rPr>
              <a:t>PostgreSQL:</a:t>
            </a:r>
            <a:endParaRPr b="1" u="sng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 with excellent support for complex queries, ACID compliance, and strong community support for production workloads.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2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ORM</a:t>
            </a:r>
            <a:endParaRPr>
              <a:solidFill>
                <a:schemeClr val="accent3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07" name="Google Shape;907;p52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Sora"/>
                <a:ea typeface="Sora"/>
                <a:cs typeface="Sora"/>
                <a:sym typeface="Sora"/>
              </a:rPr>
              <a:t>Prisma ORM:</a:t>
            </a:r>
            <a:endParaRPr b="1" u="sng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Type-safe database access with auto-generated queries. Simplifies migrations and schema changes, reducing bugs from raw SQL and boosting developer velocity.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8" name="Google Shape;908;p52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2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10" name="Google Shape;910;p52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11" name="Google Shape;911;p52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4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3"/>
          <p:cNvSpPr/>
          <p:nvPr/>
        </p:nvSpPr>
        <p:spPr>
          <a:xfrm rot="5400000">
            <a:off x="1213525" y="1570450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7" name="Google Shape;917;p53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18" name="Google Shape;918;p53"/>
          <p:cNvSpPr txBox="1"/>
          <p:nvPr>
            <p:ph type="title"/>
          </p:nvPr>
        </p:nvSpPr>
        <p:spPr>
          <a:xfrm>
            <a:off x="1012900" y="2131775"/>
            <a:ext cx="29037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localhost/auth/signup</a:t>
            </a:r>
            <a:endParaRPr/>
          </a:p>
        </p:txBody>
      </p:sp>
      <p:sp>
        <p:nvSpPr>
          <p:cNvPr id="919" name="Google Shape;919;p53"/>
          <p:cNvSpPr txBox="1"/>
          <p:nvPr>
            <p:ph idx="1" type="subTitle"/>
          </p:nvPr>
        </p:nvSpPr>
        <p:spPr>
          <a:xfrm>
            <a:off x="2167799" y="31965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 sz="1600">
              <a:solidFill>
                <a:schemeClr val="accent6"/>
              </a:solidFill>
            </a:endParaRPr>
          </a:p>
        </p:txBody>
      </p:sp>
      <p:sp>
        <p:nvSpPr>
          <p:cNvPr id="920" name="Google Shape;920;p53"/>
          <p:cNvSpPr txBox="1"/>
          <p:nvPr>
            <p:ph idx="17" type="title"/>
          </p:nvPr>
        </p:nvSpPr>
        <p:spPr>
          <a:xfrm>
            <a:off x="38100" y="319650"/>
            <a:ext cx="1823400" cy="802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 </a:t>
            </a:r>
            <a:endParaRPr/>
          </a:p>
        </p:txBody>
      </p:sp>
      <p:sp>
        <p:nvSpPr>
          <p:cNvPr id="921" name="Google Shape;921;p53"/>
          <p:cNvSpPr txBox="1"/>
          <p:nvPr>
            <p:ph idx="6" type="body"/>
          </p:nvPr>
        </p:nvSpPr>
        <p:spPr>
          <a:xfrm>
            <a:off x="1012900" y="2651975"/>
            <a:ext cx="3784200" cy="1490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user.create(email: string, password: string, name: string)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user.create(email: string, password: string, name: string) : boolean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22" name="Google Shape;922;p53"/>
          <p:cNvSpPr txBox="1"/>
          <p:nvPr>
            <p:ph idx="13" type="title"/>
          </p:nvPr>
        </p:nvSpPr>
        <p:spPr>
          <a:xfrm>
            <a:off x="1134625" y="1645763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23" name="Google Shape;923;p53"/>
          <p:cNvSpPr/>
          <p:nvPr/>
        </p:nvSpPr>
        <p:spPr>
          <a:xfrm rot="5400000">
            <a:off x="5111325" y="1570450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4" name="Google Shape;924;p53"/>
          <p:cNvSpPr txBox="1"/>
          <p:nvPr>
            <p:ph type="title"/>
          </p:nvPr>
        </p:nvSpPr>
        <p:spPr>
          <a:xfrm>
            <a:off x="4910700" y="2131775"/>
            <a:ext cx="29037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localhost/auth/login</a:t>
            </a:r>
            <a:endParaRPr/>
          </a:p>
        </p:txBody>
      </p:sp>
      <p:sp>
        <p:nvSpPr>
          <p:cNvPr id="925" name="Google Shape;925;p53"/>
          <p:cNvSpPr txBox="1"/>
          <p:nvPr>
            <p:ph idx="6" type="body"/>
          </p:nvPr>
        </p:nvSpPr>
        <p:spPr>
          <a:xfrm>
            <a:off x="4910700" y="2651975"/>
            <a:ext cx="3784200" cy="1490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user.login(email: string, password: string)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user.login(email: string, password: string) : boolean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26" name="Google Shape;926;p53"/>
          <p:cNvSpPr txBox="1"/>
          <p:nvPr>
            <p:ph idx="13" type="title"/>
          </p:nvPr>
        </p:nvSpPr>
        <p:spPr>
          <a:xfrm>
            <a:off x="5032425" y="1645763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4"/>
          <p:cNvSpPr/>
          <p:nvPr/>
        </p:nvSpPr>
        <p:spPr>
          <a:xfrm rot="5400000">
            <a:off x="2833575" y="1247975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2" name="Google Shape;932;p54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33" name="Google Shape;933;p54"/>
          <p:cNvSpPr txBox="1"/>
          <p:nvPr>
            <p:ph type="title"/>
          </p:nvPr>
        </p:nvSpPr>
        <p:spPr>
          <a:xfrm>
            <a:off x="2632950" y="1809300"/>
            <a:ext cx="29037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localhost/feed/:userID</a:t>
            </a:r>
            <a:endParaRPr/>
          </a:p>
        </p:txBody>
      </p:sp>
      <p:sp>
        <p:nvSpPr>
          <p:cNvPr id="934" name="Google Shape;934;p54"/>
          <p:cNvSpPr txBox="1"/>
          <p:nvPr>
            <p:ph idx="1" type="subTitle"/>
          </p:nvPr>
        </p:nvSpPr>
        <p:spPr>
          <a:xfrm>
            <a:off x="2167799" y="31965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Feed</a:t>
            </a:r>
            <a:endParaRPr sz="1600">
              <a:solidFill>
                <a:schemeClr val="accent6"/>
              </a:solidFill>
            </a:endParaRPr>
          </a:p>
        </p:txBody>
      </p:sp>
      <p:sp>
        <p:nvSpPr>
          <p:cNvPr id="935" name="Google Shape;935;p54"/>
          <p:cNvSpPr txBox="1"/>
          <p:nvPr>
            <p:ph idx="17" type="title"/>
          </p:nvPr>
        </p:nvSpPr>
        <p:spPr>
          <a:xfrm>
            <a:off x="38100" y="319650"/>
            <a:ext cx="1827900" cy="8268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</a:t>
            </a:r>
            <a:r>
              <a:rPr lang="en"/>
              <a:t>oints &amp; Function Signature</a:t>
            </a:r>
            <a:endParaRPr/>
          </a:p>
        </p:txBody>
      </p:sp>
      <p:sp>
        <p:nvSpPr>
          <p:cNvPr id="936" name="Google Shape;936;p54"/>
          <p:cNvSpPr txBox="1"/>
          <p:nvPr>
            <p:ph idx="6" type="body"/>
          </p:nvPr>
        </p:nvSpPr>
        <p:spPr>
          <a:xfrm>
            <a:off x="2632950" y="2329500"/>
            <a:ext cx="3784200" cy="1490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retrieve all events from organizations the user follows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feed.getByUserID(userID: int)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feed.getByUserID(userID: int): boolean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37" name="Google Shape;937;p54"/>
          <p:cNvSpPr txBox="1"/>
          <p:nvPr>
            <p:ph idx="13" type="title"/>
          </p:nvPr>
        </p:nvSpPr>
        <p:spPr>
          <a:xfrm>
            <a:off x="2754675" y="1323288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5"/>
          <p:cNvSpPr/>
          <p:nvPr/>
        </p:nvSpPr>
        <p:spPr>
          <a:xfrm rot="10800000">
            <a:off x="1235525" y="1596199"/>
            <a:ext cx="632425" cy="1457368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55"/>
          <p:cNvSpPr/>
          <p:nvPr/>
        </p:nvSpPr>
        <p:spPr>
          <a:xfrm>
            <a:off x="2757563" y="3244004"/>
            <a:ext cx="3549000" cy="135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55"/>
          <p:cNvSpPr/>
          <p:nvPr/>
        </p:nvSpPr>
        <p:spPr>
          <a:xfrm rot="10800000">
            <a:off x="2725784" y="3243888"/>
            <a:ext cx="679541" cy="1355912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5" name="Google Shape;945;p55"/>
          <p:cNvSpPr/>
          <p:nvPr/>
        </p:nvSpPr>
        <p:spPr>
          <a:xfrm>
            <a:off x="4912388" y="1608963"/>
            <a:ext cx="3303000" cy="1431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55"/>
          <p:cNvSpPr/>
          <p:nvPr/>
        </p:nvSpPr>
        <p:spPr>
          <a:xfrm rot="10800000">
            <a:off x="4885275" y="1609006"/>
            <a:ext cx="618259" cy="1431499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7" name="Google Shape;947;p55"/>
          <p:cNvSpPr/>
          <p:nvPr/>
        </p:nvSpPr>
        <p:spPr>
          <a:xfrm>
            <a:off x="1235525" y="1596250"/>
            <a:ext cx="3332400" cy="1457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48" name="Google Shape;948;p55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55"/>
          <p:cNvSpPr txBox="1"/>
          <p:nvPr>
            <p:ph idx="8" type="subTitle"/>
          </p:nvPr>
        </p:nvSpPr>
        <p:spPr>
          <a:xfrm>
            <a:off x="3405313" y="3338375"/>
            <a:ext cx="3012900" cy="3660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45"/>
              </a:spcAft>
              <a:buNone/>
            </a:pPr>
            <a:r>
              <a:rPr lang="en" sz="1089"/>
              <a:t>POST localhost/organization/create</a:t>
            </a:r>
            <a:endParaRPr sz="1089"/>
          </a:p>
        </p:txBody>
      </p:sp>
      <p:sp>
        <p:nvSpPr>
          <p:cNvPr id="950" name="Google Shape;950;p55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</a:t>
            </a:r>
            <a:endParaRPr/>
          </a:p>
        </p:txBody>
      </p:sp>
      <p:sp>
        <p:nvSpPr>
          <p:cNvPr id="951" name="Google Shape;951;p55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Organizations</a:t>
            </a:r>
            <a:endParaRPr sz="1200">
              <a:solidFill>
                <a:schemeClr val="lt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5"/>
          <p:cNvSpPr txBox="1"/>
          <p:nvPr/>
        </p:nvSpPr>
        <p:spPr>
          <a:xfrm>
            <a:off x="1439363" y="1933527"/>
            <a:ext cx="4074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5"/>
          <p:cNvSpPr txBox="1"/>
          <p:nvPr/>
        </p:nvSpPr>
        <p:spPr>
          <a:xfrm>
            <a:off x="5082900" y="1940331"/>
            <a:ext cx="407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5"/>
          <p:cNvSpPr txBox="1"/>
          <p:nvPr/>
        </p:nvSpPr>
        <p:spPr>
          <a:xfrm>
            <a:off x="2944834" y="3557797"/>
            <a:ext cx="437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4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934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5"/>
          <p:cNvSpPr txBox="1"/>
          <p:nvPr>
            <p:ph idx="7" type="subTitle"/>
          </p:nvPr>
        </p:nvSpPr>
        <p:spPr>
          <a:xfrm>
            <a:off x="1867950" y="1707145"/>
            <a:ext cx="2747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 localhost/organization/listAll</a:t>
            </a:r>
            <a:endParaRPr sz="1100"/>
          </a:p>
        </p:txBody>
      </p:sp>
      <p:sp>
        <p:nvSpPr>
          <p:cNvPr id="956" name="Google Shape;956;p55"/>
          <p:cNvSpPr txBox="1"/>
          <p:nvPr>
            <p:ph idx="1" type="body"/>
          </p:nvPr>
        </p:nvSpPr>
        <p:spPr>
          <a:xfrm>
            <a:off x="1891650" y="1971551"/>
            <a:ext cx="2700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retrieve all organizations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organization.listAll()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organization.listAll(): Organization []</a:t>
            </a:r>
            <a:endParaRPr/>
          </a:p>
        </p:txBody>
      </p:sp>
      <p:sp>
        <p:nvSpPr>
          <p:cNvPr id="957" name="Google Shape;957;p55"/>
          <p:cNvSpPr txBox="1"/>
          <p:nvPr>
            <p:ph idx="9" type="subTitle"/>
          </p:nvPr>
        </p:nvSpPr>
        <p:spPr>
          <a:xfrm>
            <a:off x="5510600" y="1717900"/>
            <a:ext cx="3183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localhost/organization/listOne/:id</a:t>
            </a:r>
            <a:endParaRPr/>
          </a:p>
        </p:txBody>
      </p:sp>
      <p:sp>
        <p:nvSpPr>
          <p:cNvPr id="958" name="Google Shape;958;p55"/>
          <p:cNvSpPr txBox="1"/>
          <p:nvPr>
            <p:ph idx="2" type="body"/>
          </p:nvPr>
        </p:nvSpPr>
        <p:spPr>
          <a:xfrm>
            <a:off x="3405325" y="3543398"/>
            <a:ext cx="2901000" cy="10563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noAutofit/>
          </a:bodyPr>
          <a:lstStyle/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create an organization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organization.create(managerID: int, name: string)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organization.create(managerID: int, name: string): boolean</a:t>
            </a:r>
            <a:endParaRPr sz="1074"/>
          </a:p>
        </p:txBody>
      </p:sp>
      <p:sp>
        <p:nvSpPr>
          <p:cNvPr id="959" name="Google Shape;959;p55"/>
          <p:cNvSpPr txBox="1"/>
          <p:nvPr>
            <p:ph idx="3" type="body"/>
          </p:nvPr>
        </p:nvSpPr>
        <p:spPr>
          <a:xfrm>
            <a:off x="5510600" y="2107025"/>
            <a:ext cx="28185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retrieve the organization with id == {:id}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organization.listOneByID(id: int)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organization.listOneByID(id: int): Organization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6"/>
          <p:cNvSpPr/>
          <p:nvPr/>
        </p:nvSpPr>
        <p:spPr>
          <a:xfrm rot="5400000">
            <a:off x="1213525" y="1570450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5" name="Google Shape;965;p56"/>
          <p:cNvSpPr txBox="1"/>
          <p:nvPr>
            <p:ph type="title"/>
          </p:nvPr>
        </p:nvSpPr>
        <p:spPr>
          <a:xfrm>
            <a:off x="1012900" y="2131775"/>
            <a:ext cx="35121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localhost/organization/listAnnouncements/:id</a:t>
            </a:r>
            <a:endParaRPr/>
          </a:p>
        </p:txBody>
      </p:sp>
      <p:sp>
        <p:nvSpPr>
          <p:cNvPr id="966" name="Google Shape;966;p56"/>
          <p:cNvSpPr txBox="1"/>
          <p:nvPr>
            <p:ph idx="1" type="subTitle"/>
          </p:nvPr>
        </p:nvSpPr>
        <p:spPr>
          <a:xfrm>
            <a:off x="2167799" y="31965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Organizations</a:t>
            </a:r>
            <a:endParaRPr sz="1600">
              <a:solidFill>
                <a:schemeClr val="accent6"/>
              </a:solidFill>
            </a:endParaRPr>
          </a:p>
        </p:txBody>
      </p:sp>
      <p:sp>
        <p:nvSpPr>
          <p:cNvPr id="967" name="Google Shape;967;p56"/>
          <p:cNvSpPr txBox="1"/>
          <p:nvPr>
            <p:ph idx="17" type="title"/>
          </p:nvPr>
        </p:nvSpPr>
        <p:spPr>
          <a:xfrm>
            <a:off x="38100" y="319650"/>
            <a:ext cx="1823400" cy="802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 </a:t>
            </a:r>
            <a:endParaRPr/>
          </a:p>
        </p:txBody>
      </p:sp>
      <p:sp>
        <p:nvSpPr>
          <p:cNvPr id="968" name="Google Shape;968;p56"/>
          <p:cNvSpPr txBox="1"/>
          <p:nvPr>
            <p:ph idx="6" type="body"/>
          </p:nvPr>
        </p:nvSpPr>
        <p:spPr>
          <a:xfrm>
            <a:off x="1012900" y="2651975"/>
            <a:ext cx="3784200" cy="1490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will list all announcements by a specific organization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organization.listAnnouncementsByID(id: int)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organization.listAnnouncementsByID(id: int)</a:t>
            </a: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: boolean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69" name="Google Shape;969;p56"/>
          <p:cNvSpPr txBox="1"/>
          <p:nvPr>
            <p:ph idx="13" type="title"/>
          </p:nvPr>
        </p:nvSpPr>
        <p:spPr>
          <a:xfrm>
            <a:off x="1134625" y="1645763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70" name="Google Shape;970;p56"/>
          <p:cNvSpPr/>
          <p:nvPr/>
        </p:nvSpPr>
        <p:spPr>
          <a:xfrm rot="5400000">
            <a:off x="5111325" y="1570450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1" name="Google Shape;971;p56"/>
          <p:cNvSpPr txBox="1"/>
          <p:nvPr>
            <p:ph type="title"/>
          </p:nvPr>
        </p:nvSpPr>
        <p:spPr>
          <a:xfrm>
            <a:off x="4910700" y="2131775"/>
            <a:ext cx="34386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localhost/organization/addAnnouncement</a:t>
            </a:r>
            <a:endParaRPr/>
          </a:p>
        </p:txBody>
      </p:sp>
      <p:sp>
        <p:nvSpPr>
          <p:cNvPr id="972" name="Google Shape;972;p56"/>
          <p:cNvSpPr txBox="1"/>
          <p:nvPr>
            <p:ph idx="6" type="body"/>
          </p:nvPr>
        </p:nvSpPr>
        <p:spPr>
          <a:xfrm>
            <a:off x="4910700" y="2651975"/>
            <a:ext cx="3784200" cy="1490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organization.addAnnouncement(managerID: int, orgID: int, body: string)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Medium"/>
              <a:buChar char="-"/>
            </a:pP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organization.addAnnouncement(managerID: int, orgID: int, body: string)</a:t>
            </a:r>
            <a:r>
              <a:rPr lang="en"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: boolean</a:t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73" name="Google Shape;973;p56"/>
          <p:cNvSpPr txBox="1"/>
          <p:nvPr>
            <p:ph idx="13" type="title"/>
          </p:nvPr>
        </p:nvSpPr>
        <p:spPr>
          <a:xfrm>
            <a:off x="5032425" y="1645763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7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9" name="Google Shape;979;p57"/>
          <p:cNvSpPr/>
          <p:nvPr/>
        </p:nvSpPr>
        <p:spPr>
          <a:xfrm>
            <a:off x="2757563" y="2986504"/>
            <a:ext cx="3549000" cy="135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0" name="Google Shape;980;p57"/>
          <p:cNvSpPr/>
          <p:nvPr/>
        </p:nvSpPr>
        <p:spPr>
          <a:xfrm rot="10800000">
            <a:off x="2725784" y="2986388"/>
            <a:ext cx="679541" cy="1355912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1" name="Google Shape;981;p57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2" name="Google Shape;982;p57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3" name="Google Shape;983;p57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4" name="Google Shape;984;p5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5" name="Google Shape;985;p57"/>
          <p:cNvSpPr txBox="1"/>
          <p:nvPr>
            <p:ph idx="8" type="subTitle"/>
          </p:nvPr>
        </p:nvSpPr>
        <p:spPr>
          <a:xfrm>
            <a:off x="3405313" y="3080875"/>
            <a:ext cx="3012900" cy="3660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45"/>
              </a:spcAft>
              <a:buNone/>
            </a:pPr>
            <a:r>
              <a:rPr lang="en" sz="1089"/>
              <a:t>GET localhost/follow/listAll/:userID</a:t>
            </a:r>
            <a:endParaRPr sz="1089"/>
          </a:p>
        </p:txBody>
      </p:sp>
      <p:sp>
        <p:nvSpPr>
          <p:cNvPr id="986" name="Google Shape;986;p57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</a:t>
            </a:r>
            <a:endParaRPr/>
          </a:p>
        </p:txBody>
      </p:sp>
      <p:sp>
        <p:nvSpPr>
          <p:cNvPr id="987" name="Google Shape;987;p57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Follow</a:t>
            </a:r>
            <a:endParaRPr sz="1200">
              <a:solidFill>
                <a:schemeClr val="lt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88" name="Google Shape;988;p57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89" name="Google Shape;989;p57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90" name="Google Shape;990;p57"/>
          <p:cNvSpPr txBox="1"/>
          <p:nvPr/>
        </p:nvSpPr>
        <p:spPr>
          <a:xfrm>
            <a:off x="2944834" y="3300297"/>
            <a:ext cx="437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4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934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91" name="Google Shape;991;p57"/>
          <p:cNvSpPr txBox="1"/>
          <p:nvPr>
            <p:ph idx="7" type="subTitle"/>
          </p:nvPr>
        </p:nvSpPr>
        <p:spPr>
          <a:xfrm>
            <a:off x="1867950" y="1692275"/>
            <a:ext cx="25452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localhost/follow/create</a:t>
            </a:r>
            <a:endParaRPr/>
          </a:p>
        </p:txBody>
      </p:sp>
      <p:sp>
        <p:nvSpPr>
          <p:cNvPr id="992" name="Google Shape;992;p57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follow an organization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follow.create(userID: int, orgID: int)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follow.create(userID: int, orgID: int): boolean</a:t>
            </a:r>
            <a:endParaRPr/>
          </a:p>
        </p:txBody>
      </p:sp>
      <p:sp>
        <p:nvSpPr>
          <p:cNvPr id="993" name="Google Shape;993;p57"/>
          <p:cNvSpPr txBox="1"/>
          <p:nvPr>
            <p:ph idx="9" type="subTitle"/>
          </p:nvPr>
        </p:nvSpPr>
        <p:spPr>
          <a:xfrm>
            <a:off x="5297575" y="1692275"/>
            <a:ext cx="27474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localhost/follow/delete</a:t>
            </a:r>
            <a:endParaRPr/>
          </a:p>
        </p:txBody>
      </p:sp>
      <p:sp>
        <p:nvSpPr>
          <p:cNvPr id="994" name="Google Shape;994;p57"/>
          <p:cNvSpPr txBox="1"/>
          <p:nvPr>
            <p:ph idx="2" type="body"/>
          </p:nvPr>
        </p:nvSpPr>
        <p:spPr>
          <a:xfrm>
            <a:off x="3405325" y="3337798"/>
            <a:ext cx="2901000" cy="10563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noAutofit/>
          </a:bodyPr>
          <a:lstStyle/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Lists all organizations followed by a user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follow.listAllByUserID(userID: int)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follow.listAllByUserID(userID: int): Organization[]</a:t>
            </a:r>
            <a:endParaRPr sz="1074"/>
          </a:p>
        </p:txBody>
      </p:sp>
      <p:sp>
        <p:nvSpPr>
          <p:cNvPr id="995" name="Google Shape;995;p57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unfollow an organization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follow.delete(userID: int, orgID: int)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follow.delete(userID: int, orgID: int): boolean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8"/>
          <p:cNvSpPr/>
          <p:nvPr/>
        </p:nvSpPr>
        <p:spPr>
          <a:xfrm rot="10800000">
            <a:off x="1235525" y="1596199"/>
            <a:ext cx="632425" cy="1457368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2757563" y="3244004"/>
            <a:ext cx="3549000" cy="135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2" name="Google Shape;1002;p58"/>
          <p:cNvSpPr/>
          <p:nvPr/>
        </p:nvSpPr>
        <p:spPr>
          <a:xfrm rot="10800000">
            <a:off x="2725784" y="3243888"/>
            <a:ext cx="679541" cy="1355912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3" name="Google Shape;1003;p58"/>
          <p:cNvSpPr/>
          <p:nvPr/>
        </p:nvSpPr>
        <p:spPr>
          <a:xfrm>
            <a:off x="4912388" y="1608963"/>
            <a:ext cx="3303000" cy="1431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4" name="Google Shape;1004;p58"/>
          <p:cNvSpPr/>
          <p:nvPr/>
        </p:nvSpPr>
        <p:spPr>
          <a:xfrm rot="10800000">
            <a:off x="4885275" y="1609006"/>
            <a:ext cx="618259" cy="1431499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5" name="Google Shape;1005;p58"/>
          <p:cNvSpPr/>
          <p:nvPr/>
        </p:nvSpPr>
        <p:spPr>
          <a:xfrm>
            <a:off x="1235525" y="1596250"/>
            <a:ext cx="3332400" cy="1457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06" name="Google Shape;1006;p58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58"/>
          <p:cNvSpPr txBox="1"/>
          <p:nvPr>
            <p:ph idx="8" type="subTitle"/>
          </p:nvPr>
        </p:nvSpPr>
        <p:spPr>
          <a:xfrm>
            <a:off x="3405313" y="3338375"/>
            <a:ext cx="3012900" cy="3660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45"/>
              </a:spcAft>
              <a:buNone/>
            </a:pPr>
            <a:r>
              <a:rPr lang="en" sz="1089"/>
              <a:t>GET localhost/event/listByOrg/:orgID</a:t>
            </a:r>
            <a:endParaRPr sz="1089"/>
          </a:p>
        </p:txBody>
      </p:sp>
      <p:sp>
        <p:nvSpPr>
          <p:cNvPr id="1008" name="Google Shape;1008;p5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</a:t>
            </a:r>
            <a:endParaRPr/>
          </a:p>
        </p:txBody>
      </p:sp>
      <p:sp>
        <p:nvSpPr>
          <p:cNvPr id="1009" name="Google Shape;1009;p5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Events</a:t>
            </a:r>
            <a:endParaRPr sz="1200">
              <a:solidFill>
                <a:schemeClr val="lt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10" name="Google Shape;1010;p58"/>
          <p:cNvSpPr txBox="1"/>
          <p:nvPr/>
        </p:nvSpPr>
        <p:spPr>
          <a:xfrm>
            <a:off x="1439363" y="1933527"/>
            <a:ext cx="4074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11" name="Google Shape;1011;p58"/>
          <p:cNvSpPr txBox="1"/>
          <p:nvPr/>
        </p:nvSpPr>
        <p:spPr>
          <a:xfrm>
            <a:off x="5082900" y="1940331"/>
            <a:ext cx="407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12" name="Google Shape;1012;p58"/>
          <p:cNvSpPr txBox="1"/>
          <p:nvPr/>
        </p:nvSpPr>
        <p:spPr>
          <a:xfrm>
            <a:off x="2944834" y="3557797"/>
            <a:ext cx="437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4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934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13" name="Google Shape;1013;p58"/>
          <p:cNvSpPr txBox="1"/>
          <p:nvPr>
            <p:ph idx="7" type="subTitle"/>
          </p:nvPr>
        </p:nvSpPr>
        <p:spPr>
          <a:xfrm>
            <a:off x="1867950" y="1707145"/>
            <a:ext cx="2747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 localhost/event/listAll</a:t>
            </a:r>
            <a:endParaRPr sz="1100"/>
          </a:p>
        </p:txBody>
      </p:sp>
      <p:sp>
        <p:nvSpPr>
          <p:cNvPr id="1014" name="Google Shape;1014;p58"/>
          <p:cNvSpPr txBox="1"/>
          <p:nvPr>
            <p:ph idx="1" type="body"/>
          </p:nvPr>
        </p:nvSpPr>
        <p:spPr>
          <a:xfrm>
            <a:off x="1891650" y="1971551"/>
            <a:ext cx="2700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event.listAll()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event.listAll(): Event []</a:t>
            </a:r>
            <a:endParaRPr/>
          </a:p>
        </p:txBody>
      </p:sp>
      <p:sp>
        <p:nvSpPr>
          <p:cNvPr id="1015" name="Google Shape;1015;p58"/>
          <p:cNvSpPr txBox="1"/>
          <p:nvPr>
            <p:ph idx="9" type="subTitle"/>
          </p:nvPr>
        </p:nvSpPr>
        <p:spPr>
          <a:xfrm>
            <a:off x="5510600" y="1717897"/>
            <a:ext cx="2747400" cy="3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localhost/event/listOne/:id</a:t>
            </a:r>
            <a:endParaRPr/>
          </a:p>
        </p:txBody>
      </p:sp>
      <p:sp>
        <p:nvSpPr>
          <p:cNvPr id="1016" name="Google Shape;1016;p58"/>
          <p:cNvSpPr txBox="1"/>
          <p:nvPr>
            <p:ph idx="2" type="body"/>
          </p:nvPr>
        </p:nvSpPr>
        <p:spPr>
          <a:xfrm>
            <a:off x="3405325" y="3543398"/>
            <a:ext cx="2901000" cy="10563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noAutofit/>
          </a:bodyPr>
          <a:lstStyle/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events by a specific organization ID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event.listAllByOrgID(orgID: int)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event.listAllByOrgID(orgID: int): Event</a:t>
            </a:r>
            <a:endParaRPr sz="1074"/>
          </a:p>
        </p:txBody>
      </p:sp>
      <p:sp>
        <p:nvSpPr>
          <p:cNvPr id="1017" name="Google Shape;1017;p58"/>
          <p:cNvSpPr txBox="1"/>
          <p:nvPr>
            <p:ph idx="3" type="body"/>
          </p:nvPr>
        </p:nvSpPr>
        <p:spPr>
          <a:xfrm>
            <a:off x="5510600" y="2107025"/>
            <a:ext cx="28185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show event with that specific ID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event.listAllByID(int: id)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event.listAllByID(int: id): Event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9"/>
          <p:cNvSpPr/>
          <p:nvPr/>
        </p:nvSpPr>
        <p:spPr>
          <a:xfrm rot="10800000">
            <a:off x="1072163" y="2515211"/>
            <a:ext cx="632425" cy="1457368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3" name="Google Shape;1023;p59"/>
          <p:cNvSpPr/>
          <p:nvPr/>
        </p:nvSpPr>
        <p:spPr>
          <a:xfrm>
            <a:off x="4749026" y="2527975"/>
            <a:ext cx="3303000" cy="1431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4" name="Google Shape;1024;p59"/>
          <p:cNvSpPr/>
          <p:nvPr/>
        </p:nvSpPr>
        <p:spPr>
          <a:xfrm rot="10800000">
            <a:off x="4721912" y="2528019"/>
            <a:ext cx="618259" cy="1431499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5" name="Google Shape;1025;p59"/>
          <p:cNvSpPr/>
          <p:nvPr/>
        </p:nvSpPr>
        <p:spPr>
          <a:xfrm>
            <a:off x="1072163" y="2515263"/>
            <a:ext cx="3332400" cy="1457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26" name="Google Shape;1026;p5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59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</a:t>
            </a:r>
            <a:endParaRPr/>
          </a:p>
        </p:txBody>
      </p:sp>
      <p:sp>
        <p:nvSpPr>
          <p:cNvPr id="1028" name="Google Shape;1028;p59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Events</a:t>
            </a:r>
            <a:endParaRPr sz="1200">
              <a:solidFill>
                <a:schemeClr val="lt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9" name="Google Shape;1029;p59"/>
          <p:cNvSpPr txBox="1"/>
          <p:nvPr/>
        </p:nvSpPr>
        <p:spPr>
          <a:xfrm>
            <a:off x="1276000" y="2852539"/>
            <a:ext cx="4074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0" name="Google Shape;1030;p59"/>
          <p:cNvSpPr txBox="1"/>
          <p:nvPr/>
        </p:nvSpPr>
        <p:spPr>
          <a:xfrm>
            <a:off x="4919538" y="2859343"/>
            <a:ext cx="407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1" name="Google Shape;1031;p59"/>
          <p:cNvSpPr txBox="1"/>
          <p:nvPr>
            <p:ph idx="7" type="subTitle"/>
          </p:nvPr>
        </p:nvSpPr>
        <p:spPr>
          <a:xfrm>
            <a:off x="1704588" y="2626158"/>
            <a:ext cx="2747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POST localhost/event/create</a:t>
            </a:r>
            <a:endParaRPr sz="1100"/>
          </a:p>
        </p:txBody>
      </p:sp>
      <p:sp>
        <p:nvSpPr>
          <p:cNvPr id="1032" name="Google Shape;1032;p59"/>
          <p:cNvSpPr txBox="1"/>
          <p:nvPr>
            <p:ph idx="1" type="body"/>
          </p:nvPr>
        </p:nvSpPr>
        <p:spPr>
          <a:xfrm>
            <a:off x="1728288" y="2890563"/>
            <a:ext cx="2700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event.create(managerID: int, orgID: int, title: string, date: DateTime)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event.create(managerID: int, orgID: int, title: string, date: DateTime): Boolean</a:t>
            </a:r>
            <a:endParaRPr/>
          </a:p>
        </p:txBody>
      </p:sp>
      <p:sp>
        <p:nvSpPr>
          <p:cNvPr id="1033" name="Google Shape;1033;p59"/>
          <p:cNvSpPr txBox="1"/>
          <p:nvPr>
            <p:ph idx="9" type="subTitle"/>
          </p:nvPr>
        </p:nvSpPr>
        <p:spPr>
          <a:xfrm>
            <a:off x="5347251" y="2636901"/>
            <a:ext cx="3012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localhost/event/delete/:id</a:t>
            </a:r>
            <a:endParaRPr/>
          </a:p>
        </p:txBody>
      </p:sp>
      <p:sp>
        <p:nvSpPr>
          <p:cNvPr id="1034" name="Google Shape;1034;p59"/>
          <p:cNvSpPr txBox="1"/>
          <p:nvPr>
            <p:ph idx="3" type="body"/>
          </p:nvPr>
        </p:nvSpPr>
        <p:spPr>
          <a:xfrm>
            <a:off x="5347237" y="3026038"/>
            <a:ext cx="28185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delete the event with id == {:id}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event.deleteByID(id: int)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event.deleteByID(id: int): Boolean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0"/>
          <p:cNvSpPr/>
          <p:nvPr/>
        </p:nvSpPr>
        <p:spPr>
          <a:xfrm rot="10800000">
            <a:off x="1235525" y="1596199"/>
            <a:ext cx="632425" cy="1457368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2757563" y="3244004"/>
            <a:ext cx="3549000" cy="135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1" name="Google Shape;1041;p60"/>
          <p:cNvSpPr/>
          <p:nvPr/>
        </p:nvSpPr>
        <p:spPr>
          <a:xfrm rot="10800000">
            <a:off x="2725784" y="3243888"/>
            <a:ext cx="679541" cy="1355912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2" name="Google Shape;1042;p60"/>
          <p:cNvSpPr/>
          <p:nvPr/>
        </p:nvSpPr>
        <p:spPr>
          <a:xfrm>
            <a:off x="4912388" y="1608963"/>
            <a:ext cx="3303000" cy="1431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3" name="Google Shape;1043;p60"/>
          <p:cNvSpPr/>
          <p:nvPr/>
        </p:nvSpPr>
        <p:spPr>
          <a:xfrm rot="10800000">
            <a:off x="4885275" y="1609006"/>
            <a:ext cx="618259" cy="1431499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1235525" y="1596250"/>
            <a:ext cx="3332400" cy="1457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45" name="Google Shape;1045;p6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60"/>
          <p:cNvSpPr txBox="1"/>
          <p:nvPr>
            <p:ph idx="8" type="subTitle"/>
          </p:nvPr>
        </p:nvSpPr>
        <p:spPr>
          <a:xfrm>
            <a:off x="3405313" y="3338375"/>
            <a:ext cx="3012900" cy="3660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45"/>
              </a:spcAft>
              <a:buNone/>
            </a:pPr>
            <a:r>
              <a:rPr lang="en" sz="1089"/>
              <a:t>POST localhost/application/review/:id</a:t>
            </a:r>
            <a:endParaRPr sz="1089"/>
          </a:p>
        </p:txBody>
      </p:sp>
      <p:sp>
        <p:nvSpPr>
          <p:cNvPr id="1047" name="Google Shape;1047;p6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Points &amp; Function Signature</a:t>
            </a:r>
            <a:endParaRPr/>
          </a:p>
        </p:txBody>
      </p:sp>
      <p:sp>
        <p:nvSpPr>
          <p:cNvPr id="1048" name="Google Shape;1048;p6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Manager Applications</a:t>
            </a:r>
            <a:endParaRPr sz="1200">
              <a:solidFill>
                <a:schemeClr val="lt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49" name="Google Shape;1049;p60"/>
          <p:cNvSpPr txBox="1"/>
          <p:nvPr/>
        </p:nvSpPr>
        <p:spPr>
          <a:xfrm>
            <a:off x="1439363" y="1933527"/>
            <a:ext cx="4074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50" name="Google Shape;1050;p60"/>
          <p:cNvSpPr txBox="1"/>
          <p:nvPr/>
        </p:nvSpPr>
        <p:spPr>
          <a:xfrm>
            <a:off x="5082900" y="1940331"/>
            <a:ext cx="407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51" name="Google Shape;1051;p60"/>
          <p:cNvSpPr txBox="1"/>
          <p:nvPr/>
        </p:nvSpPr>
        <p:spPr>
          <a:xfrm>
            <a:off x="2944834" y="3557797"/>
            <a:ext cx="437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4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934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52" name="Google Shape;1052;p60"/>
          <p:cNvSpPr txBox="1"/>
          <p:nvPr>
            <p:ph idx="7" type="subTitle"/>
          </p:nvPr>
        </p:nvSpPr>
        <p:spPr>
          <a:xfrm>
            <a:off x="1867950" y="1707145"/>
            <a:ext cx="2747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POST localhost/application/create</a:t>
            </a:r>
            <a:endParaRPr sz="1100"/>
          </a:p>
        </p:txBody>
      </p:sp>
      <p:sp>
        <p:nvSpPr>
          <p:cNvPr id="1053" name="Google Shape;1053;p60"/>
          <p:cNvSpPr txBox="1"/>
          <p:nvPr>
            <p:ph idx="1" type="body"/>
          </p:nvPr>
        </p:nvSpPr>
        <p:spPr>
          <a:xfrm>
            <a:off x="1891650" y="1971551"/>
            <a:ext cx="2700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submit a manager application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application.create(userID: int, orgID: int, message: string)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application.create(userID: int, orgID: int, message: string): void</a:t>
            </a:r>
            <a:endParaRPr/>
          </a:p>
        </p:txBody>
      </p:sp>
      <p:sp>
        <p:nvSpPr>
          <p:cNvPr id="1054" name="Google Shape;1054;p60"/>
          <p:cNvSpPr txBox="1"/>
          <p:nvPr>
            <p:ph idx="9" type="subTitle"/>
          </p:nvPr>
        </p:nvSpPr>
        <p:spPr>
          <a:xfrm>
            <a:off x="5510600" y="1717897"/>
            <a:ext cx="2747400" cy="3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localhost/application/listAll</a:t>
            </a:r>
            <a:endParaRPr/>
          </a:p>
        </p:txBody>
      </p:sp>
      <p:sp>
        <p:nvSpPr>
          <p:cNvPr id="1055" name="Google Shape;1055;p60"/>
          <p:cNvSpPr txBox="1"/>
          <p:nvPr>
            <p:ph idx="2" type="body"/>
          </p:nvPr>
        </p:nvSpPr>
        <p:spPr>
          <a:xfrm>
            <a:off x="3405325" y="3543398"/>
            <a:ext cx="2901000" cy="1056300"/>
          </a:xfrm>
          <a:prstGeom prst="rect">
            <a:avLst/>
          </a:prstGeom>
        </p:spPr>
        <p:txBody>
          <a:bodyPr anchorCtr="0" anchor="t" bIns="98225" lIns="98225" spcFirstLastPara="1" rIns="98225" wrap="square" tIns="98225">
            <a:noAutofit/>
          </a:bodyPr>
          <a:lstStyle/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approves a specific application based on ID</a:t>
            </a:r>
            <a:endParaRPr sz="1074"/>
          </a:p>
          <a:p>
            <a:pPr indent="-296827" lvl="0" marL="457200" rtl="0" algn="l">
              <a:spcBef>
                <a:spcPts val="0"/>
              </a:spcBef>
              <a:spcAft>
                <a:spcPts val="0"/>
              </a:spcAft>
              <a:buSzPts val="1074"/>
              <a:buChar char="-"/>
            </a:pPr>
            <a:r>
              <a:rPr lang="en" sz="1074"/>
              <a:t>application.review(adminID: int, applicationID: int, action: "approve" | "reject"): boolean</a:t>
            </a:r>
            <a:endParaRPr sz="1074"/>
          </a:p>
        </p:txBody>
      </p:sp>
      <p:sp>
        <p:nvSpPr>
          <p:cNvPr id="1056" name="Google Shape;1056;p60"/>
          <p:cNvSpPr txBox="1"/>
          <p:nvPr>
            <p:ph idx="3" type="body"/>
          </p:nvPr>
        </p:nvSpPr>
        <p:spPr>
          <a:xfrm>
            <a:off x="5510600" y="2107025"/>
            <a:ext cx="28185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will show all manager applications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application.listAll()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application.listAll(): Application []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